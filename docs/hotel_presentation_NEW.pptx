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188720"/>
            <a:ext cx="3291840" cy="3291840"/>
          </a:xfrm>
          <a:prstGeom prst="ellipse">
            <a:avLst/>
          </a:prstGeom>
          <a:solidFill>
            <a:srgbClr val="D9B65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4937760"/>
            <a:ext cx="2926080" cy="2926080"/>
          </a:xfrm>
          <a:prstGeom prst="ellipse">
            <a:avLst/>
          </a:prstGeom>
          <a:solidFill>
            <a:srgbClr val="4C8DF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77240"/>
            <a:ext cx="868680" cy="868680"/>
          </a:xfrm>
          <a:prstGeom prst="ellipse">
            <a:avLst/>
          </a:prstGeom>
          <a:solidFill>
            <a:srgbClr val="D9B6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02412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74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2F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AI-Based Hotel Booking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40080" y="2651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2F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&amp; </a:t>
            </a:r>
            <a:pPr indent="0" marL="0">
              <a:buNone/>
            </a:pPr>
            <a:r>
              <a:rPr lang="en-US" sz="4200" b="1" dirty="0">
                <a:solidFill>
                  <a:srgbClr val="D9B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Support System</a:t>
            </a:r>
            <a:endParaRPr lang="en-US" sz="4200" dirty="0"/>
          </a:p>
        </p:txBody>
      </p:sp>
      <p:sp>
        <p:nvSpPr>
          <p:cNvPr id="8" name="Shape 5"/>
          <p:cNvSpPr/>
          <p:nvPr/>
        </p:nvSpPr>
        <p:spPr>
          <a:xfrm>
            <a:off x="640080" y="3657600"/>
            <a:ext cx="10911535" cy="1417320"/>
          </a:xfrm>
          <a:prstGeom prst="roundRect">
            <a:avLst>
              <a:gd name="adj" fmla="val 5161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0120" y="3822192"/>
            <a:ext cx="102714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platform built with Python &amp; Streamlit that lets users upload hotel booking datasets, automatically clean and preprocess data, generate insights via the Google Gemini API, recommend Power BI dashboards, and explore interactive analytics — helping hotel managers make better, data-driven decisions.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5440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Petra  ·  Faculty of Administrative &amp; Financial Sciences  ·  Supervisor: Dr. Husam Barham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" y="5806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Rana Khaled Al-Nefary   ·   Mohammad Ahmad Al-Nuaimi   ·   Aya Mohammad Al-Ffayez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603504" cy="603504"/>
          </a:xfrm>
          <a:prstGeom prst="ellipse">
            <a:avLst/>
          </a:prstGeom>
          <a:solidFill>
            <a:srgbClr val="D9B6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630936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5852160" cy="4480560"/>
          </a:xfrm>
          <a:prstGeom prst="roundRect">
            <a:avLst>
              <a:gd name="adj" fmla="val 1633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60120" y="182880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hotel industry generates large amounts of booking data every day. Analyzing this data manually is time-consuming and often inefficient.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intelligent analytical tools, managers may struggle to make accurate decisions — leading to revenue loss and reduced operational efficiency.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858000" y="1828800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E8896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444" y="1952244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16368" y="179222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Cancellations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516368" y="2103120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revenue from unpredictable cancellations.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858000" y="2880360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2BB6A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444" y="300380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16368" y="284378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Fluctuating Demand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7516368" y="3154680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demand shifts that are hard to anticipate.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858000" y="3931920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4C8DF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444" y="4055364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516368" y="389534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Business Trends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516368" y="4206240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identifying patterns buried in raw data.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858000" y="4983480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A06FE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1444" y="5106924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516368" y="494690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Manual Analysis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7516368" y="5257800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reporting delays key decisions.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Hotel Booking Decision Support System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1018001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603504" cy="603504"/>
          </a:xfrm>
          <a:prstGeom prst="ellipse">
            <a:avLst/>
          </a:prstGeom>
          <a:solidFill>
            <a:srgbClr val="D9B6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630936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2020824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2BB6AD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" y="2144268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984248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booking datasets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554480" y="2295144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hotel booking data efficiently at scale.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17920" y="169164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73952" y="2020824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4C8DF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144268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32320" y="1984248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preprocess data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7132320" y="2295144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prepare uploaded data for analysis.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306324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96112" y="3392424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D9B65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" y="3515868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3355848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insights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554480" y="3666744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business insights using the Gemini API.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17920" y="306324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73952" y="3392424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A06FE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3515868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32320" y="3355848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suggestions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7132320" y="3666744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suitable dashboards &amp; visualizations.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40080" y="443484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96112" y="4764024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35C07A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" y="4887468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554480" y="4727448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Decision-support environment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1554480" y="5038344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interactive space for hotel managers.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6217920" y="443484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473952" y="4764024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E8896B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7396" y="4887468"/>
            <a:ext cx="228600" cy="2286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132320" y="4727448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business intelligence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7132320" y="5038344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strategic, data-driven decision-making.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Hotel Booking Decision Support System</a:t>
            </a:r>
            <a:endParaRPr lang="en-US" sz="850" dirty="0"/>
          </a:p>
        </p:txBody>
      </p:sp>
      <p:sp>
        <p:nvSpPr>
          <p:cNvPr id="36" name="Text 27"/>
          <p:cNvSpPr/>
          <p:nvPr/>
        </p:nvSpPr>
        <p:spPr>
          <a:xfrm>
            <a:off x="1018001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603504" cy="603504"/>
          </a:xfrm>
          <a:prstGeom prst="ellipse">
            <a:avLst/>
          </a:prstGeom>
          <a:solidFill>
            <a:srgbClr val="D9B6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630936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hotel booking dataset that simulates real-world scenarios — covering customers, room types, booking platforms, pricing, ratings, discounts, and booking status. It enables analysis of booking behavior, customer preferences, pricing trends, and cancellation patterns.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44856" y="278892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18692" y="3063240"/>
            <a:ext cx="658368" cy="658368"/>
          </a:xfrm>
          <a:prstGeom prst="ellipse">
            <a:avLst/>
          </a:prstGeom>
          <a:solidFill>
            <a:srgbClr val="18214A"/>
          </a:solidFill>
          <a:ln w="15240">
            <a:solidFill>
              <a:srgbClr val="D9B65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140" y="321868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6296" y="38404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CD7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128,000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536296" y="45720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343504" y="278892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17340" y="3063240"/>
            <a:ext cx="658368" cy="658368"/>
          </a:xfrm>
          <a:prstGeom prst="ellipse">
            <a:avLst/>
          </a:prstGeom>
          <a:solidFill>
            <a:srgbClr val="18214A"/>
          </a:solidFill>
          <a:ln w="15240">
            <a:solidFill>
              <a:srgbClr val="2BB6A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788" y="321868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34944" y="38404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CD7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200" dirty="0"/>
          </a:p>
        </p:txBody>
      </p:sp>
      <p:sp>
        <p:nvSpPr>
          <p:cNvPr id="15" name="Text 10"/>
          <p:cNvSpPr/>
          <p:nvPr/>
        </p:nvSpPr>
        <p:spPr>
          <a:xfrm>
            <a:off x="3434944" y="45720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Features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242152" y="278892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215988" y="3063240"/>
            <a:ext cx="658368" cy="658368"/>
          </a:xfrm>
          <a:prstGeom prst="ellipse">
            <a:avLst/>
          </a:prstGeom>
          <a:solidFill>
            <a:srgbClr val="18214A"/>
          </a:solidFill>
          <a:ln w="15240">
            <a:solidFill>
              <a:srgbClr val="4C8DF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1436" y="3218688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33592" y="38404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D7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CD7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6333592" y="45720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Domain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9140800" y="278892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0114636" y="3063240"/>
            <a:ext cx="658368" cy="658368"/>
          </a:xfrm>
          <a:prstGeom prst="ellipse">
            <a:avLst/>
          </a:prstGeom>
          <a:solidFill>
            <a:srgbClr val="18214A"/>
          </a:solidFill>
          <a:ln w="15240">
            <a:solidFill>
              <a:srgbClr val="A06FE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0084" y="3218688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32240" y="38404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D7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Simulated</a:t>
            </a:r>
            <a:endParaRPr lang="en-US" sz="2200" dirty="0"/>
          </a:p>
        </p:txBody>
      </p:sp>
      <p:sp>
        <p:nvSpPr>
          <p:cNvPr id="25" name="Text 18"/>
          <p:cNvSpPr/>
          <p:nvPr/>
        </p:nvSpPr>
        <p:spPr>
          <a:xfrm>
            <a:off x="9232240" y="45720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Dataset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Hotel Booking Decision Support System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1018001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603504" cy="603504"/>
          </a:xfrm>
          <a:prstGeom prst="ellipse">
            <a:avLst/>
          </a:prstGeom>
          <a:solidFill>
            <a:srgbClr val="D9B6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630936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Architecture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14630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workflow from dataset upload to business decision support.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82016" y="20574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8214A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505560" y="2240280"/>
            <a:ext cx="621792" cy="621792"/>
          </a:xfrm>
          <a:prstGeom prst="ellipse">
            <a:avLst/>
          </a:prstGeom>
          <a:solidFill>
            <a:srgbClr val="0B1233"/>
          </a:solidFill>
          <a:ln w="16510">
            <a:solidFill>
              <a:srgbClr val="D9B65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864" y="2386584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168" y="2898648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3005176" y="2057400"/>
            <a:ext cx="4754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B65C"/>
                </a:solidFill>
              </a:rPr>
              <a:t>›</a:t>
            </a:r>
            <a:endParaRPr lang="en-US" sz="3000" dirty="0"/>
          </a:p>
        </p:txBody>
      </p:sp>
      <p:sp>
        <p:nvSpPr>
          <p:cNvPr id="11" name="Shape 7"/>
          <p:cNvSpPr/>
          <p:nvPr/>
        </p:nvSpPr>
        <p:spPr>
          <a:xfrm>
            <a:off x="3434944" y="20574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8214A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58488" y="2240280"/>
            <a:ext cx="621792" cy="621792"/>
          </a:xfrm>
          <a:prstGeom prst="ellipse">
            <a:avLst/>
          </a:prstGeom>
          <a:solidFill>
            <a:srgbClr val="0B1233"/>
          </a:solidFill>
          <a:ln w="16510">
            <a:solidFill>
              <a:srgbClr val="2BB6A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792" y="238658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08096" y="2898648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Dataset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5858104" y="2057400"/>
            <a:ext cx="4754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B65C"/>
                </a:solidFill>
              </a:rPr>
              <a:t>›</a:t>
            </a:r>
            <a:endParaRPr lang="en-US" sz="3000" dirty="0"/>
          </a:p>
        </p:txBody>
      </p:sp>
      <p:sp>
        <p:nvSpPr>
          <p:cNvPr id="16" name="Shape 11"/>
          <p:cNvSpPr/>
          <p:nvPr/>
        </p:nvSpPr>
        <p:spPr>
          <a:xfrm>
            <a:off x="6287872" y="20574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8214A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211416" y="2240280"/>
            <a:ext cx="621792" cy="621792"/>
          </a:xfrm>
          <a:prstGeom prst="ellipse">
            <a:avLst/>
          </a:prstGeom>
          <a:solidFill>
            <a:srgbClr val="0B1233"/>
          </a:solidFill>
          <a:ln w="16510">
            <a:solidFill>
              <a:srgbClr val="4C8DF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7720" y="2386584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61024" y="2898648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8711032" y="2057400"/>
            <a:ext cx="4754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B65C"/>
                </a:solidFill>
              </a:rPr>
              <a:t>›</a:t>
            </a:r>
            <a:endParaRPr lang="en-US" sz="3000" dirty="0"/>
          </a:p>
        </p:txBody>
      </p:sp>
      <p:sp>
        <p:nvSpPr>
          <p:cNvPr id="21" name="Shape 15"/>
          <p:cNvSpPr/>
          <p:nvPr/>
        </p:nvSpPr>
        <p:spPr>
          <a:xfrm>
            <a:off x="9140800" y="20574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8214A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0064344" y="2240280"/>
            <a:ext cx="621792" cy="621792"/>
          </a:xfrm>
          <a:prstGeom prst="ellipse">
            <a:avLst/>
          </a:prstGeom>
          <a:solidFill>
            <a:srgbClr val="0B1233"/>
          </a:solidFill>
          <a:ln w="16510">
            <a:solidFill>
              <a:srgbClr val="A06FE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648" y="2386584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13952" y="2898648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2008480" y="416052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8214A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2932024" y="4343400"/>
            <a:ext cx="621792" cy="621792"/>
          </a:xfrm>
          <a:prstGeom prst="ellipse">
            <a:avLst/>
          </a:prstGeom>
          <a:solidFill>
            <a:srgbClr val="0B1233"/>
          </a:solidFill>
          <a:ln w="16510">
            <a:solidFill>
              <a:srgbClr val="E8896B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8328" y="4489704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081632" y="5001768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Suggestions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4431640" y="4160520"/>
            <a:ext cx="4754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B65C"/>
                </a:solidFill>
              </a:rPr>
              <a:t>›</a:t>
            </a:r>
            <a:endParaRPr lang="en-US" sz="3000" dirty="0"/>
          </a:p>
        </p:txBody>
      </p:sp>
      <p:sp>
        <p:nvSpPr>
          <p:cNvPr id="30" name="Shape 22"/>
          <p:cNvSpPr/>
          <p:nvPr/>
        </p:nvSpPr>
        <p:spPr>
          <a:xfrm>
            <a:off x="4861408" y="416052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8214A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5784952" y="4343400"/>
            <a:ext cx="621792" cy="621792"/>
          </a:xfrm>
          <a:prstGeom prst="ellipse">
            <a:avLst/>
          </a:prstGeom>
          <a:solidFill>
            <a:srgbClr val="0B1233"/>
          </a:solidFill>
          <a:ln w="16510">
            <a:solidFill>
              <a:srgbClr val="35C07A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1256" y="4489704"/>
            <a:ext cx="329184" cy="32918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934560" y="5001768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150" dirty="0"/>
          </a:p>
        </p:txBody>
      </p:sp>
      <p:sp>
        <p:nvSpPr>
          <p:cNvPr id="34" name="Text 25"/>
          <p:cNvSpPr/>
          <p:nvPr/>
        </p:nvSpPr>
        <p:spPr>
          <a:xfrm>
            <a:off x="7284568" y="4160520"/>
            <a:ext cx="4754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B65C"/>
                </a:solidFill>
              </a:rPr>
              <a:t>›</a:t>
            </a:r>
            <a:endParaRPr lang="en-US" sz="3000" dirty="0"/>
          </a:p>
        </p:txBody>
      </p:sp>
      <p:sp>
        <p:nvSpPr>
          <p:cNvPr id="35" name="Shape 26"/>
          <p:cNvSpPr/>
          <p:nvPr/>
        </p:nvSpPr>
        <p:spPr>
          <a:xfrm>
            <a:off x="7714336" y="416052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8214A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8637880" y="4343400"/>
            <a:ext cx="621792" cy="621792"/>
          </a:xfrm>
          <a:prstGeom prst="ellipse">
            <a:avLst/>
          </a:prstGeom>
          <a:solidFill>
            <a:srgbClr val="0B1233"/>
          </a:solidFill>
          <a:ln w="16510">
            <a:solidFill>
              <a:srgbClr val="D9B65C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4184" y="4489704"/>
            <a:ext cx="329184" cy="32918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787488" y="5001768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150" dirty="0"/>
          </a:p>
        </p:txBody>
      </p:sp>
      <p:sp>
        <p:nvSpPr>
          <p:cNvPr id="39" name="Shape 29"/>
          <p:cNvSpPr/>
          <p:nvPr/>
        </p:nvSpPr>
        <p:spPr>
          <a:xfrm>
            <a:off x="10174072" y="3447288"/>
            <a:ext cx="402336" cy="658368"/>
          </a:xfrm>
          <a:prstGeom prst="downArrow">
            <a:avLst/>
          </a:prstGeom>
          <a:solidFill>
            <a:srgbClr val="D9B65C"/>
          </a:solidFill>
          <a:ln/>
        </p:spPr>
      </p:sp>
      <p:sp>
        <p:nvSpPr>
          <p:cNvPr id="40" name="Text 3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Hotel Booking Decision Support System</a:t>
            </a:r>
            <a:endParaRPr lang="en-US" sz="850" dirty="0"/>
          </a:p>
        </p:txBody>
      </p:sp>
      <p:sp>
        <p:nvSpPr>
          <p:cNvPr id="41" name="Text 31"/>
          <p:cNvSpPr/>
          <p:nvPr/>
        </p:nvSpPr>
        <p:spPr>
          <a:xfrm>
            <a:off x="1018001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603504" cy="603504"/>
          </a:xfrm>
          <a:prstGeom prst="ellipse">
            <a:avLst/>
          </a:prstGeom>
          <a:solidFill>
            <a:srgbClr val="D9B6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630936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 Dashboard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of the uploaded hotel dataset through key performance indicators and visual analytics — letting users grasp dataset characteristics at a glance.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44856" y="269748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44856" y="2697480"/>
            <a:ext cx="82296" cy="2286000"/>
          </a:xfrm>
          <a:prstGeom prst="rect">
            <a:avLst/>
          </a:prstGeom>
          <a:solidFill>
            <a:srgbClr val="D9B65C"/>
          </a:solidFill>
          <a:ln/>
        </p:spPr>
      </p:sp>
      <p:sp>
        <p:nvSpPr>
          <p:cNvPr id="8" name="Shape 5"/>
          <p:cNvSpPr/>
          <p:nvPr/>
        </p:nvSpPr>
        <p:spPr>
          <a:xfrm>
            <a:off x="2273656" y="2953512"/>
            <a:ext cx="502920" cy="502920"/>
          </a:xfrm>
          <a:prstGeom prst="ellipse">
            <a:avLst/>
          </a:prstGeom>
          <a:solidFill>
            <a:srgbClr val="18214A"/>
          </a:solidFill>
          <a:ln w="12700">
            <a:solidFill>
              <a:srgbClr val="D9B65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672" y="3081528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0888" y="356616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D7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128,000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737464" y="4389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343504" y="269748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43504" y="2697480"/>
            <a:ext cx="82296" cy="2286000"/>
          </a:xfrm>
          <a:prstGeom prst="rect">
            <a:avLst/>
          </a:prstGeom>
          <a:solidFill>
            <a:srgbClr val="2BB6AD"/>
          </a:solidFill>
          <a:ln/>
        </p:spPr>
      </p:sp>
      <p:sp>
        <p:nvSpPr>
          <p:cNvPr id="14" name="Shape 10"/>
          <p:cNvSpPr/>
          <p:nvPr/>
        </p:nvSpPr>
        <p:spPr>
          <a:xfrm>
            <a:off x="5172304" y="2953512"/>
            <a:ext cx="502920" cy="502920"/>
          </a:xfrm>
          <a:prstGeom prst="ellipse">
            <a:avLst/>
          </a:prstGeom>
          <a:solidFill>
            <a:srgbClr val="18214A"/>
          </a:solidFill>
          <a:ln w="12700">
            <a:solidFill>
              <a:srgbClr val="2BB6A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320" y="3081528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99536" y="356616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CD7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115.78</a:t>
            </a:r>
            <a:endParaRPr lang="en-US" sz="3700" dirty="0"/>
          </a:p>
        </p:txBody>
      </p:sp>
      <p:sp>
        <p:nvSpPr>
          <p:cNvPr id="17" name="Text 12"/>
          <p:cNvSpPr/>
          <p:nvPr/>
        </p:nvSpPr>
        <p:spPr>
          <a:xfrm>
            <a:off x="3636112" y="4389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242152" y="269748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42152" y="2697480"/>
            <a:ext cx="82296" cy="2286000"/>
          </a:xfrm>
          <a:prstGeom prst="rect">
            <a:avLst/>
          </a:prstGeom>
          <a:solidFill>
            <a:srgbClr val="4C8DF5"/>
          </a:solidFill>
          <a:ln/>
        </p:spPr>
      </p:sp>
      <p:sp>
        <p:nvSpPr>
          <p:cNvPr id="20" name="Shape 15"/>
          <p:cNvSpPr/>
          <p:nvPr/>
        </p:nvSpPr>
        <p:spPr>
          <a:xfrm>
            <a:off x="8070952" y="2953512"/>
            <a:ext cx="502920" cy="502920"/>
          </a:xfrm>
          <a:prstGeom prst="ellipse">
            <a:avLst/>
          </a:prstGeom>
          <a:solidFill>
            <a:srgbClr val="18214A"/>
          </a:solidFill>
          <a:ln w="12700">
            <a:solidFill>
              <a:srgbClr val="4C8DF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968" y="3081528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98184" y="356616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CD7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4.11</a:t>
            </a:r>
            <a:endParaRPr lang="en-US" sz="3700" dirty="0"/>
          </a:p>
        </p:txBody>
      </p:sp>
      <p:sp>
        <p:nvSpPr>
          <p:cNvPr id="23" name="Text 17"/>
          <p:cNvSpPr/>
          <p:nvPr/>
        </p:nvSpPr>
        <p:spPr>
          <a:xfrm>
            <a:off x="6534760" y="4389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9140800" y="269748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40800" y="2697480"/>
            <a:ext cx="82296" cy="2286000"/>
          </a:xfrm>
          <a:prstGeom prst="rect">
            <a:avLst/>
          </a:prstGeom>
          <a:solidFill>
            <a:srgbClr val="A06FE0"/>
          </a:solidFill>
          <a:ln/>
        </p:spPr>
      </p:sp>
      <p:sp>
        <p:nvSpPr>
          <p:cNvPr id="26" name="Shape 20"/>
          <p:cNvSpPr/>
          <p:nvPr/>
        </p:nvSpPr>
        <p:spPr>
          <a:xfrm>
            <a:off x="10969600" y="2953512"/>
            <a:ext cx="502920" cy="502920"/>
          </a:xfrm>
          <a:prstGeom prst="ellipse">
            <a:avLst/>
          </a:prstGeom>
          <a:solidFill>
            <a:srgbClr val="18214A"/>
          </a:solidFill>
          <a:ln w="12700">
            <a:solidFill>
              <a:srgbClr val="A06FE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7616" y="3081528"/>
            <a:ext cx="246888" cy="2468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396832" y="356616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CD7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3.51</a:t>
            </a:r>
            <a:endParaRPr lang="en-US" sz="3700" dirty="0"/>
          </a:p>
        </p:txBody>
      </p:sp>
      <p:sp>
        <p:nvSpPr>
          <p:cNvPr id="29" name="Text 22"/>
          <p:cNvSpPr/>
          <p:nvPr/>
        </p:nvSpPr>
        <p:spPr>
          <a:xfrm>
            <a:off x="9433408" y="4389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Nights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Hotel Booking Decision Support System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1018001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603504" cy="603504"/>
          </a:xfrm>
          <a:prstGeom prst="ellipse">
            <a:avLst/>
          </a:prstGeom>
          <a:solidFill>
            <a:srgbClr val="D9B6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630936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Module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Features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2BB6AD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2180844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2020824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Detection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40080" y="2898648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4C8DF5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022092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2862072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40080" y="3739896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A06FE0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386334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98448" y="3703320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Imputation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640080" y="4581144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E8896B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4704588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98448" y="4544568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450" dirty="0"/>
          </a:p>
        </p:txBody>
      </p:sp>
      <p:sp>
        <p:nvSpPr>
          <p:cNvPr id="18" name="Shape 11"/>
          <p:cNvSpPr/>
          <p:nvPr/>
        </p:nvSpPr>
        <p:spPr>
          <a:xfrm>
            <a:off x="6583680" y="1554480"/>
            <a:ext cx="4983480" cy="3246120"/>
          </a:xfrm>
          <a:prstGeom prst="roundRect">
            <a:avLst>
              <a:gd name="adj" fmla="val 2254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Text 12"/>
          <p:cNvSpPr/>
          <p:nvPr/>
        </p:nvSpPr>
        <p:spPr>
          <a:xfrm>
            <a:off x="6858000" y="17373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Results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6858000" y="2194560"/>
            <a:ext cx="2148840" cy="1783080"/>
          </a:xfrm>
          <a:prstGeom prst="roundRect">
            <a:avLst>
              <a:gd name="adj" fmla="val 3077"/>
            </a:avLst>
          </a:prstGeom>
          <a:solidFill>
            <a:srgbClr val="18214A"/>
          </a:solidFill>
          <a:ln w="12700">
            <a:solidFill>
              <a:srgbClr val="2A3460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7022592" y="2304288"/>
            <a:ext cx="1819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Cleaning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7022592" y="2743200"/>
            <a:ext cx="1819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7022592" y="2944368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128,000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7022592" y="3364992"/>
            <a:ext cx="1819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7022592" y="356616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8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16,732</a:t>
            </a:r>
            <a:endParaRPr lang="en-US" sz="2000" dirty="0"/>
          </a:p>
        </p:txBody>
      </p:sp>
      <p:sp>
        <p:nvSpPr>
          <p:cNvPr id="26" name="Shape 19"/>
          <p:cNvSpPr/>
          <p:nvPr/>
        </p:nvSpPr>
        <p:spPr>
          <a:xfrm>
            <a:off x="9144000" y="2194560"/>
            <a:ext cx="2148840" cy="1783080"/>
          </a:xfrm>
          <a:prstGeom prst="roundRect">
            <a:avLst>
              <a:gd name="adj" fmla="val 3077"/>
            </a:avLst>
          </a:prstGeom>
          <a:solidFill>
            <a:srgbClr val="18214A"/>
          </a:solidFill>
          <a:ln w="12700">
            <a:solidFill>
              <a:srgbClr val="2A3460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9308592" y="2304288"/>
            <a:ext cx="1819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308592" y="2743200"/>
            <a:ext cx="1819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9308592" y="2944368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128,000</a:t>
            </a:r>
            <a:endParaRPr lang="en-US" sz="2000" dirty="0"/>
          </a:p>
        </p:txBody>
      </p:sp>
      <p:sp>
        <p:nvSpPr>
          <p:cNvPr id="30" name="Text 23"/>
          <p:cNvSpPr/>
          <p:nvPr/>
        </p:nvSpPr>
        <p:spPr>
          <a:xfrm>
            <a:off x="9308592" y="3364992"/>
            <a:ext cx="1819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9308592" y="356616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5C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8892540" y="2194560"/>
            <a:ext cx="3657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B65C"/>
                </a:solidFill>
              </a:rPr>
              <a:t>›</a:t>
            </a:r>
            <a:endParaRPr lang="en-US" sz="2600" dirty="0"/>
          </a:p>
        </p:txBody>
      </p:sp>
      <p:sp>
        <p:nvSpPr>
          <p:cNvPr id="33" name="Shape 26"/>
          <p:cNvSpPr/>
          <p:nvPr/>
        </p:nvSpPr>
        <p:spPr>
          <a:xfrm>
            <a:off x="6583680" y="498348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18214A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839712" y="5212080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35C07A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3156" y="5335524"/>
            <a:ext cx="228600" cy="2286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498080" y="5175504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records removed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7498080" y="548640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improved while keeping all 128,000 records intact.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Hotel Booking Decision Support System</a:t>
            </a:r>
            <a:endParaRPr lang="en-US" sz="850" dirty="0"/>
          </a:p>
        </p:txBody>
      </p:sp>
      <p:sp>
        <p:nvSpPr>
          <p:cNvPr id="39" name="Text 31"/>
          <p:cNvSpPr/>
          <p:nvPr/>
        </p:nvSpPr>
        <p:spPr>
          <a:xfrm>
            <a:off x="1018001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603504" cy="603504"/>
          </a:xfrm>
          <a:prstGeom prst="ellipse">
            <a:avLst/>
          </a:prstGeom>
          <a:solidFill>
            <a:srgbClr val="D9B6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630936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Insights Module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14813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C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Google Gemini API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2BB6AD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2135124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1975104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98448" y="228600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uploaded datasets in natural language.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2944368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4C8DF5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067812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2907792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summaries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298448" y="3218688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concise dataset summaries instantly.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40080" y="3877056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A06FE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400050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98448" y="3840480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trends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298448" y="4151376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hidden patterns within the data.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40080" y="4809744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E8896B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4933188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98448" y="47731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1298448" y="5084064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actionable, data-driven suggestions.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6492240" y="1920240"/>
            <a:ext cx="5074920" cy="3840480"/>
          </a:xfrm>
          <a:prstGeom prst="roundRect">
            <a:avLst>
              <a:gd name="adj" fmla="val 1905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6766560" y="210312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766560" y="2542032"/>
            <a:ext cx="4526280" cy="1143000"/>
          </a:xfrm>
          <a:prstGeom prst="roundRect">
            <a:avLst>
              <a:gd name="adj" fmla="val 4800"/>
            </a:avLst>
          </a:prstGeom>
          <a:solidFill>
            <a:srgbClr val="18214A"/>
          </a:solidFill>
          <a:ln w="12700">
            <a:solidFill>
              <a:srgbClr val="4C8DF5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6949440" y="2670048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C8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main factors affecting hotel booking cancellations?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6766560" y="3840480"/>
            <a:ext cx="4526280" cy="1691640"/>
          </a:xfrm>
          <a:prstGeom prst="roundRect">
            <a:avLst>
              <a:gd name="adj" fmla="val 3243"/>
            </a:avLst>
          </a:prstGeom>
          <a:solidFill>
            <a:srgbClr val="18214A"/>
          </a:solidFill>
          <a:ln w="12700">
            <a:solidFill>
              <a:srgbClr val="D9B65C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949440" y="4023360"/>
            <a:ext cx="41605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D9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with higher discounts and shorter stays have a higher probability of cancellation.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Hotel Booking Decision Support System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1018001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603504" cy="603504"/>
          </a:xfrm>
          <a:prstGeom prst="ellipse">
            <a:avLst/>
          </a:prstGeom>
          <a:solidFill>
            <a:srgbClr val="D9B6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630936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Suggestions Module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1536192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analyzes uploaded datasets and recommends suitable dashboard structures — no advanced Power BI expertise required.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49428" y="228600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80464" y="2560320"/>
            <a:ext cx="658368" cy="658368"/>
          </a:xfrm>
          <a:prstGeom prst="ellipse">
            <a:avLst/>
          </a:prstGeom>
          <a:solidFill>
            <a:srgbClr val="18214A"/>
          </a:solidFill>
          <a:ln w="15240">
            <a:solidFill>
              <a:srgbClr val="D9B65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912" y="271576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2308" y="3337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KPIs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60908" y="38862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335628" y="228600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766664" y="2560320"/>
            <a:ext cx="658368" cy="658368"/>
          </a:xfrm>
          <a:prstGeom prst="ellipse">
            <a:avLst/>
          </a:prstGeom>
          <a:solidFill>
            <a:srgbClr val="18214A"/>
          </a:solidFill>
          <a:ln w="15240">
            <a:solidFill>
              <a:srgbClr val="2BB6A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112" y="271576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18508" y="3337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Visualizations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747108" y="38862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Line Charts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8221828" y="228600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652864" y="2560320"/>
            <a:ext cx="658368" cy="658368"/>
          </a:xfrm>
          <a:prstGeom prst="ellipse">
            <a:avLst/>
          </a:prstGeom>
          <a:solidFill>
            <a:srgbClr val="18214A"/>
          </a:solidFill>
          <a:ln w="15240">
            <a:solidFill>
              <a:srgbClr val="A06FE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8312" y="2715768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04708" y="3337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DAX Measures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633308" y="38862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Count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Hotel Booking Decision Support System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1018001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603504" cy="603504"/>
          </a:xfrm>
          <a:prstGeom prst="ellipse">
            <a:avLst/>
          </a:prstGeom>
          <a:solidFill>
            <a:srgbClr val="D9B6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630936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Dashboard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153619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BI-style executive dashboard for monitoring business performance visually and interactively.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Components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" y="2834640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2BB6A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" y="2958084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72768" y="279806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914400" y="3547872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D9B65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3671316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72768" y="351129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914400" y="4261104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4C8DF5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" y="438454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72768" y="4224528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914400" y="4974336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E8896B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" y="5097780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72768" y="4937760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6217920" y="2148840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Text 14"/>
          <p:cNvSpPr/>
          <p:nvPr/>
        </p:nvSpPr>
        <p:spPr>
          <a:xfrm>
            <a:off x="649224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6492240" y="2834640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2BB6AD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5684" y="2958084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150608" y="279806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Month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6492240" y="3547872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4C8DF5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5684" y="3671316"/>
            <a:ext cx="228600" cy="2286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150608" y="351129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by Platform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6492240" y="4261104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A06FE0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5684" y="4384548"/>
            <a:ext cx="228600" cy="2286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150608" y="4224528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by Room Type</a:t>
            </a:r>
            <a:endParaRPr lang="en-US" sz="1400" dirty="0"/>
          </a:p>
        </p:txBody>
      </p:sp>
      <p:sp>
        <p:nvSpPr>
          <p:cNvPr id="31" name="Shape 21"/>
          <p:cNvSpPr/>
          <p:nvPr/>
        </p:nvSpPr>
        <p:spPr>
          <a:xfrm>
            <a:off x="6492240" y="4974336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35C07A"/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5684" y="5097780"/>
            <a:ext cx="228600" cy="22860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150608" y="4937760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by Hotel</a:t>
            </a:r>
            <a:endParaRPr lang="en-US" sz="1400" dirty="0"/>
          </a:p>
        </p:txBody>
      </p:sp>
      <p:sp>
        <p:nvSpPr>
          <p:cNvPr id="34" name="Text 2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Hotel Booking Decision Support System</a:t>
            </a:r>
            <a:endParaRPr lang="en-US" sz="850" dirty="0"/>
          </a:p>
        </p:txBody>
      </p:sp>
      <p:sp>
        <p:nvSpPr>
          <p:cNvPr id="35" name="Text 24"/>
          <p:cNvSpPr/>
          <p:nvPr/>
        </p:nvSpPr>
        <p:spPr>
          <a:xfrm>
            <a:off x="1018001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603504" cy="603504"/>
          </a:xfrm>
          <a:prstGeom prst="ellipse">
            <a:avLst/>
          </a:prstGeom>
          <a:solidFill>
            <a:srgbClr val="D9B6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630936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Used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1984248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D9B65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" y="2107692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27048" y="194767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527048" y="225856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40080" y="2834640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68680" y="3035808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2BB6A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3159252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27048" y="299923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527048" y="331012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interface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3886200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68680" y="4087368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4C8DF5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4210812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27048" y="405079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527048" y="436168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analysis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4937760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68680" y="5138928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A06FE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" y="5262372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27048" y="510235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1527048" y="541324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visualizations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217920" y="1783080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446520" y="1984248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E8896B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9964" y="2107692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04888" y="194767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7104888" y="225856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&amp; ML components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6217920" y="2834640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446520" y="3035808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ECD79B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9964" y="3159252"/>
            <a:ext cx="228600" cy="2286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104888" y="299923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7104888" y="331012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insights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6217920" y="3886200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6446520" y="4087368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35C07A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9964" y="4210812"/>
            <a:ext cx="228600" cy="22860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104888" y="405079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Concepts</a:t>
            </a:r>
            <a:endParaRPr lang="en-US" sz="1450" dirty="0"/>
          </a:p>
        </p:txBody>
      </p:sp>
      <p:sp>
        <p:nvSpPr>
          <p:cNvPr id="39" name="Text 29"/>
          <p:cNvSpPr/>
          <p:nvPr/>
        </p:nvSpPr>
        <p:spPr>
          <a:xfrm>
            <a:off x="7104888" y="436168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BI reporting</a:t>
            </a:r>
            <a:endParaRPr lang="en-US" sz="1150" dirty="0"/>
          </a:p>
        </p:txBody>
      </p:sp>
      <p:sp>
        <p:nvSpPr>
          <p:cNvPr id="40" name="Text 3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Hotel Booking Decision Support System</a:t>
            </a:r>
            <a:endParaRPr lang="en-US" sz="850" dirty="0"/>
          </a:p>
        </p:txBody>
      </p:sp>
      <p:sp>
        <p:nvSpPr>
          <p:cNvPr id="41" name="Text 31"/>
          <p:cNvSpPr/>
          <p:nvPr/>
        </p:nvSpPr>
        <p:spPr>
          <a:xfrm>
            <a:off x="1018001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603504" cy="603504"/>
          </a:xfrm>
          <a:prstGeom prst="ellipse">
            <a:avLst/>
          </a:prstGeom>
          <a:solidFill>
            <a:srgbClr val="D9B6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630936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Results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1517904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hotel analytics platform combining Business Intelligence and Artificial Intelligence in one integrated system.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49428" y="22402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98752" y="2496312"/>
            <a:ext cx="621792" cy="621792"/>
          </a:xfrm>
          <a:prstGeom prst="ellipse">
            <a:avLst/>
          </a:prstGeom>
          <a:solidFill>
            <a:srgbClr val="18214A"/>
          </a:solidFill>
          <a:ln w="15240">
            <a:solidFill>
              <a:srgbClr val="2BB6A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056" y="2642616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8028" y="3200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Analytics Platform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4335628" y="22402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784952" y="2496312"/>
            <a:ext cx="621792" cy="621792"/>
          </a:xfrm>
          <a:prstGeom prst="ellipse">
            <a:avLst/>
          </a:prstGeom>
          <a:solidFill>
            <a:srgbClr val="18214A"/>
          </a:solidFill>
          <a:ln w="15240">
            <a:solidFill>
              <a:srgbClr val="4C8DF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256" y="2642616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64228" y="3200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Data Cleaning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8221828" y="22402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9671152" y="2496312"/>
            <a:ext cx="621792" cy="621792"/>
          </a:xfrm>
          <a:prstGeom prst="ellipse">
            <a:avLst/>
          </a:prstGeom>
          <a:solidFill>
            <a:srgbClr val="18214A"/>
          </a:solidFill>
          <a:ln w="15240">
            <a:solidFill>
              <a:srgbClr val="D9B65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456" y="2642616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50428" y="3200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Insights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449428" y="40233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1898752" y="4279392"/>
            <a:ext cx="621792" cy="621792"/>
          </a:xfrm>
          <a:prstGeom prst="ellipse">
            <a:avLst/>
          </a:prstGeom>
          <a:solidFill>
            <a:srgbClr val="18214A"/>
          </a:solidFill>
          <a:ln w="15240">
            <a:solidFill>
              <a:srgbClr val="A06FE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5056" y="4425696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78028" y="4983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Integration</a:t>
            </a:r>
            <a:endParaRPr lang="en-US" sz="1450" dirty="0"/>
          </a:p>
        </p:txBody>
      </p:sp>
      <p:sp>
        <p:nvSpPr>
          <p:cNvPr id="22" name="Shape 15"/>
          <p:cNvSpPr/>
          <p:nvPr/>
        </p:nvSpPr>
        <p:spPr>
          <a:xfrm>
            <a:off x="4335628" y="40233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784952" y="4279392"/>
            <a:ext cx="621792" cy="621792"/>
          </a:xfrm>
          <a:prstGeom prst="ellipse">
            <a:avLst/>
          </a:prstGeom>
          <a:solidFill>
            <a:srgbClr val="18214A"/>
          </a:solidFill>
          <a:ln w="15240">
            <a:solidFill>
              <a:srgbClr val="E8896B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1256" y="4425696"/>
            <a:ext cx="329184" cy="32918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564228" y="4983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Recommendation Engine</a:t>
            </a:r>
            <a:endParaRPr lang="en-US" sz="1450" dirty="0"/>
          </a:p>
        </p:txBody>
      </p:sp>
      <p:sp>
        <p:nvSpPr>
          <p:cNvPr id="26" name="Shape 18"/>
          <p:cNvSpPr/>
          <p:nvPr/>
        </p:nvSpPr>
        <p:spPr>
          <a:xfrm>
            <a:off x="8221828" y="40233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671152" y="4279392"/>
            <a:ext cx="621792" cy="621792"/>
          </a:xfrm>
          <a:prstGeom prst="ellipse">
            <a:avLst/>
          </a:prstGeom>
          <a:solidFill>
            <a:srgbClr val="18214A"/>
          </a:solidFill>
          <a:ln w="15240">
            <a:solidFill>
              <a:srgbClr val="35C07A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7456" y="4425696"/>
            <a:ext cx="329184" cy="32918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450428" y="4983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Decision-Support Dashboard</a:t>
            </a:r>
            <a:endParaRPr lang="en-US" sz="1450" dirty="0"/>
          </a:p>
        </p:txBody>
      </p:sp>
      <p:sp>
        <p:nvSpPr>
          <p:cNvPr id="30" name="Text 2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Hotel Booking Decision Support System</a:t>
            </a:r>
            <a:endParaRPr lang="en-US" sz="850" dirty="0"/>
          </a:p>
        </p:txBody>
      </p:sp>
      <p:sp>
        <p:nvSpPr>
          <p:cNvPr id="31" name="Text 22"/>
          <p:cNvSpPr/>
          <p:nvPr/>
        </p:nvSpPr>
        <p:spPr>
          <a:xfrm>
            <a:off x="1018001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603504" cy="603504"/>
          </a:xfrm>
          <a:prstGeom prst="ellipse">
            <a:avLst/>
          </a:prstGeom>
          <a:solidFill>
            <a:srgbClr val="D9B6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630936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10911535" cy="804672"/>
          </a:xfrm>
          <a:prstGeom prst="roundRect">
            <a:avLst>
              <a:gd name="adj" fmla="val 9091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1847088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D9B65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" y="1970532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810512"/>
            <a:ext cx="97959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cancellations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554480" y="2121408"/>
            <a:ext cx="97959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machine-learning models to forecast booking cancellations.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2624328"/>
            <a:ext cx="10911535" cy="804672"/>
          </a:xfrm>
          <a:prstGeom prst="roundRect">
            <a:avLst>
              <a:gd name="adj" fmla="val 9091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96112" y="2779776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2BB6A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290322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2743200"/>
            <a:ext cx="97959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554480" y="3054096"/>
            <a:ext cx="97959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updates as new data arrives.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3557016"/>
            <a:ext cx="10911535" cy="804672"/>
          </a:xfrm>
          <a:prstGeom prst="roundRect">
            <a:avLst>
              <a:gd name="adj" fmla="val 9091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96112" y="3712464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4C8DF5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" y="3835908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3675888"/>
            <a:ext cx="97959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554480" y="3986784"/>
            <a:ext cx="97959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scalable cloud-based data storage.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4489704"/>
            <a:ext cx="10911535" cy="804672"/>
          </a:xfrm>
          <a:prstGeom prst="roundRect">
            <a:avLst>
              <a:gd name="adj" fmla="val 9091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96112" y="4645152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A06FE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" y="4768596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4608576"/>
            <a:ext cx="97959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Multi-hotel analysis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1554480" y="4919472"/>
            <a:ext cx="97959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comparison across multiple properties.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40080" y="5422392"/>
            <a:ext cx="10911535" cy="804672"/>
          </a:xfrm>
          <a:prstGeom prst="roundRect">
            <a:avLst>
              <a:gd name="adj" fmla="val 9091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96112" y="5577840"/>
            <a:ext cx="475488" cy="475488"/>
          </a:xfrm>
          <a:prstGeom prst="ellipse">
            <a:avLst/>
          </a:prstGeom>
          <a:solidFill>
            <a:srgbClr val="18214A"/>
          </a:solidFill>
          <a:ln w="12700">
            <a:solidFill>
              <a:srgbClr val="E8896B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" y="5701284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554480" y="5541264"/>
            <a:ext cx="97959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forecasting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1554480" y="5852160"/>
            <a:ext cx="97959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predictive analytics &amp; demand models.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Hotel Booking Decision Support System</a:t>
            </a:r>
            <a:endParaRPr lang="en-US" sz="850" dirty="0"/>
          </a:p>
        </p:txBody>
      </p:sp>
      <p:sp>
        <p:nvSpPr>
          <p:cNvPr id="31" name="Text 23"/>
          <p:cNvSpPr/>
          <p:nvPr/>
        </p:nvSpPr>
        <p:spPr>
          <a:xfrm>
            <a:off x="1018001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754880"/>
            <a:ext cx="3108960" cy="3108960"/>
          </a:xfrm>
          <a:prstGeom prst="ellipse">
            <a:avLst/>
          </a:prstGeom>
          <a:solidFill>
            <a:srgbClr val="D9B65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85800"/>
            <a:ext cx="731520" cy="731520"/>
          </a:xfrm>
          <a:prstGeom prst="ellipse">
            <a:avLst/>
          </a:prstGeom>
          <a:solidFill>
            <a:srgbClr val="D9B65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88696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71323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10911535" cy="3291840"/>
          </a:xfrm>
          <a:prstGeom prst="roundRect">
            <a:avLst>
              <a:gd name="adj" fmla="val 2222"/>
            </a:avLst>
          </a:prstGeom>
          <a:solidFill>
            <a:srgbClr val="121A40"/>
          </a:solidFill>
          <a:ln w="12700">
            <a:solidFill>
              <a:srgbClr val="2A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51560" y="2103120"/>
            <a:ext cx="10088575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developed an AI-Based Hotel Booking Analysis &amp; Decision Support System that combines Business Intelligence, Artificial Intelligence, Data Analytics, and Interactive Dashboards.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enables hotel managers to clean and analyze data, generate intelligent insights, monitor performance indicators, and make data-driven decisions.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544068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EC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AI with business intelligence tools demonstrates the potential of modern analytics to improve hotel management and operational efficiency.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474720" cy="3474720"/>
          </a:xfrm>
          <a:prstGeom prst="ellipse">
            <a:avLst/>
          </a:prstGeom>
          <a:solidFill>
            <a:srgbClr val="D9B65C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572000"/>
            <a:ext cx="3291840" cy="3291840"/>
          </a:xfrm>
          <a:prstGeom prst="ellipse">
            <a:avLst/>
          </a:prstGeom>
          <a:solidFill>
            <a:srgbClr val="4C8DF5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01488" y="1508760"/>
            <a:ext cx="1188720" cy="1188720"/>
          </a:xfrm>
          <a:prstGeom prst="ellipse">
            <a:avLst/>
          </a:prstGeom>
          <a:solidFill>
            <a:srgbClr val="D9B6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664" y="177393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88036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2F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0" y="39776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appreciate your time and attention.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46177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EC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Hotel Booking Decision Support System</dc:title>
  <dc:subject>PptxGenJS Presentation</dc:subject>
  <dc:creator>Hotel BI Team</dc:creator>
  <cp:lastModifiedBy>Hotel BI Team</cp:lastModifiedBy>
  <cp:revision>1</cp:revision>
  <dcterms:created xsi:type="dcterms:W3CDTF">2026-06-08T06:11:06Z</dcterms:created>
  <dcterms:modified xsi:type="dcterms:W3CDTF">2026-06-08T06:11:06Z</dcterms:modified>
</cp:coreProperties>
</file>